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odec Pro" panose="020B0604020202020204" charset="0"/>
      <p:regular r:id="rId11"/>
    </p:embeddedFont>
    <p:embeddedFont>
      <p:font typeface="Codec Pro Light" panose="020B0604020202020204" charset="0"/>
      <p:regular r:id="rId12"/>
    </p:embeddedFont>
    <p:embeddedFont>
      <p:font typeface="Fraunces" panose="020B0604020202020204" charset="-18"/>
      <p:regular r:id="rId13"/>
    </p:embeddedFont>
    <p:embeddedFont>
      <p:font typeface="Fraunces Bold" panose="020B0604020202020204" charset="-18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04848"/>
            <a:ext cx="5579065" cy="6382152"/>
          </a:xfrm>
          <a:custGeom>
            <a:avLst/>
            <a:gdLst/>
            <a:ahLst/>
            <a:cxnLst/>
            <a:rect l="l" t="t" r="r" b="b"/>
            <a:pathLst>
              <a:path w="5579065" h="6382152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708935" y="0"/>
            <a:ext cx="5579065" cy="6382152"/>
          </a:xfrm>
          <a:custGeom>
            <a:avLst/>
            <a:gdLst/>
            <a:ahLst/>
            <a:cxnLst/>
            <a:rect l="l" t="t" r="r" b="b"/>
            <a:pathLst>
              <a:path w="5579065" h="6382152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-301030" y="301030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>
                <a:moveTo>
                  <a:pt x="0" y="0"/>
                </a:moveTo>
                <a:lnTo>
                  <a:pt x="7768508" y="0"/>
                </a:lnTo>
                <a:lnTo>
                  <a:pt x="7768508" y="7166448"/>
                </a:lnTo>
                <a:lnTo>
                  <a:pt x="0" y="716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5400000" flipH="1" flipV="1">
            <a:off x="10820522" y="2819522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>
                <a:moveTo>
                  <a:pt x="7768508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8" y="0"/>
                </a:lnTo>
                <a:lnTo>
                  <a:pt x="7768508" y="71664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902718" y="2122091"/>
            <a:ext cx="14482564" cy="540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34"/>
              </a:lnSpc>
            </a:pPr>
            <a:r>
              <a:rPr lang="en-US" sz="7552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AGENTOVO ORIENTOVANÉ MASÍVNE</a:t>
            </a:r>
          </a:p>
          <a:p>
            <a:pPr marL="0" lvl="0" indent="0" algn="ctr">
              <a:lnSpc>
                <a:spcPts val="8534"/>
              </a:lnSpc>
            </a:pPr>
            <a:r>
              <a:rPr lang="en-US" sz="7552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PARALELNÉ PROSTREDIE PRE MODELOVANIE</a:t>
            </a:r>
          </a:p>
          <a:p>
            <a:pPr marL="0" lvl="0" indent="0" algn="ctr">
              <a:lnSpc>
                <a:spcPts val="8534"/>
              </a:lnSpc>
            </a:pPr>
            <a:r>
              <a:rPr lang="en-US" sz="7552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NA SŠ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45437" y="8018157"/>
            <a:ext cx="7997126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Ivana Zeleňáková</a:t>
            </a:r>
          </a:p>
          <a:p>
            <a:pPr marL="0" lvl="0" indent="0"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Školiteľ: prof. RNDr. Ivan Kalaš, PhD.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50832" y="-781343"/>
            <a:ext cx="5941360" cy="11839950"/>
            <a:chOff x="0" y="0"/>
            <a:chExt cx="1564803" cy="31183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4803" cy="3118341"/>
            </a:xfrm>
            <a:custGeom>
              <a:avLst/>
              <a:gdLst/>
              <a:ahLst/>
              <a:cxnLst/>
              <a:rect l="l" t="t" r="r" b="b"/>
              <a:pathLst>
                <a:path w="1564803" h="3118341">
                  <a:moveTo>
                    <a:pt x="66456" y="0"/>
                  </a:moveTo>
                  <a:lnTo>
                    <a:pt x="1498347" y="0"/>
                  </a:lnTo>
                  <a:cubicBezTo>
                    <a:pt x="1535049" y="0"/>
                    <a:pt x="1564803" y="29753"/>
                    <a:pt x="1564803" y="66456"/>
                  </a:cubicBezTo>
                  <a:lnTo>
                    <a:pt x="1564803" y="3051885"/>
                  </a:lnTo>
                  <a:cubicBezTo>
                    <a:pt x="1564803" y="3088587"/>
                    <a:pt x="1535049" y="3118341"/>
                    <a:pt x="1498347" y="3118341"/>
                  </a:cubicBezTo>
                  <a:lnTo>
                    <a:pt x="66456" y="3118341"/>
                  </a:lnTo>
                  <a:cubicBezTo>
                    <a:pt x="29753" y="3118341"/>
                    <a:pt x="0" y="3088587"/>
                    <a:pt x="0" y="3051885"/>
                  </a:cubicBezTo>
                  <a:lnTo>
                    <a:pt x="0" y="66456"/>
                  </a:lnTo>
                  <a:cubicBezTo>
                    <a:pt x="0" y="29753"/>
                    <a:pt x="29753" y="0"/>
                    <a:pt x="66456" y="0"/>
                  </a:cubicBezTo>
                  <a:close/>
                </a:path>
              </a:pathLst>
            </a:custGeom>
            <a:solidFill>
              <a:srgbClr val="D5E4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64803" cy="3156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010547" y="2878836"/>
            <a:ext cx="7570713" cy="567803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46824" y="1263557"/>
            <a:ext cx="9258219" cy="1783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11"/>
              </a:lnSpc>
              <a:spcBef>
                <a:spcPct val="0"/>
              </a:spcBef>
            </a:pPr>
            <a:r>
              <a:rPr lang="en-US" sz="6399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Agentovo orientované modelovanie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6824" y="3945057"/>
            <a:ext cx="8208685" cy="478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Agent = autonómna entita s pravidlami správania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Agenti interagujú medzi sebou a s prostredím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Simulácia často obsahuje veľké množstvo agentov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Emergentné správanie = z lokálnych pravidiel vzniká globálne správanie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Decentralizované myslenie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flocking vtákov, doprava a dopravné zápchy, predator–prey, mravce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83281" y="3194326"/>
            <a:ext cx="12121437" cy="907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1"/>
              </a:lnSpc>
              <a:spcBef>
                <a:spcPct val="0"/>
              </a:spcBef>
            </a:pPr>
            <a:r>
              <a:rPr lang="en-US" sz="6399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Cieľ prác</a:t>
            </a:r>
            <a:r>
              <a:rPr lang="en-US" sz="6399" b="1" u="none" strike="noStrike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68322" y="4499187"/>
            <a:ext cx="10087335" cy="277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Preskúmať existujúce prostredia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Navrhnúť vlastné webové prostredie pre agentové simulácie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Implementovať podporu paralelného spracovania agentov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Navrhnúť jednoduchý jazyk na programovanie agentov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Navrhnúť vzdelávací obsah pre 2–3 vyučovacie hodiny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Overiť použitie prostredia v reálnej školskej situácii</a:t>
            </a:r>
          </a:p>
        </p:txBody>
      </p:sp>
      <p:sp>
        <p:nvSpPr>
          <p:cNvPr id="4" name="Freeform 4"/>
          <p:cNvSpPr/>
          <p:nvPr/>
        </p:nvSpPr>
        <p:spPr>
          <a:xfrm>
            <a:off x="-564213" y="2480913"/>
            <a:ext cx="6823821" cy="7806087"/>
          </a:xfrm>
          <a:custGeom>
            <a:avLst/>
            <a:gdLst/>
            <a:ahLst/>
            <a:cxnLst/>
            <a:rect l="l" t="t" r="r" b="b"/>
            <a:pathLst>
              <a:path w="6823821" h="7806087">
                <a:moveTo>
                  <a:pt x="0" y="0"/>
                </a:moveTo>
                <a:lnTo>
                  <a:pt x="6823821" y="0"/>
                </a:lnTo>
                <a:lnTo>
                  <a:pt x="6823821" y="7806087"/>
                </a:lnTo>
                <a:lnTo>
                  <a:pt x="0" y="7806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12074823" y="0"/>
            <a:ext cx="6754697" cy="7727013"/>
          </a:xfrm>
          <a:custGeom>
            <a:avLst/>
            <a:gdLst/>
            <a:ahLst/>
            <a:cxnLst/>
            <a:rect l="l" t="t" r="r" b="b"/>
            <a:pathLst>
              <a:path w="6754697" h="7727013">
                <a:moveTo>
                  <a:pt x="6754698" y="7727013"/>
                </a:moveTo>
                <a:lnTo>
                  <a:pt x="0" y="7727013"/>
                </a:lnTo>
                <a:lnTo>
                  <a:pt x="0" y="0"/>
                </a:lnTo>
                <a:lnTo>
                  <a:pt x="6754698" y="0"/>
                </a:lnTo>
                <a:lnTo>
                  <a:pt x="6754698" y="772701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5400000">
            <a:off x="-301030" y="301030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>
                <a:moveTo>
                  <a:pt x="0" y="0"/>
                </a:moveTo>
                <a:lnTo>
                  <a:pt x="7768508" y="0"/>
                </a:lnTo>
                <a:lnTo>
                  <a:pt x="7768508" y="7166448"/>
                </a:lnTo>
                <a:lnTo>
                  <a:pt x="0" y="716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 flipH="1" flipV="1">
            <a:off x="10820522" y="2819522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>
                <a:moveTo>
                  <a:pt x="7768508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8" y="0"/>
                </a:lnTo>
                <a:lnTo>
                  <a:pt x="7768508" y="71664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1472171" y="-475029"/>
            <a:ext cx="11152862" cy="3275562"/>
          </a:xfrm>
          <a:custGeom>
            <a:avLst/>
            <a:gdLst/>
            <a:ahLst/>
            <a:cxnLst/>
            <a:rect l="l" t="t" r="r" b="b"/>
            <a:pathLst>
              <a:path w="11152862" h="3275562">
                <a:moveTo>
                  <a:pt x="0" y="3275562"/>
                </a:moveTo>
                <a:lnTo>
                  <a:pt x="11152862" y="3275562"/>
                </a:lnTo>
                <a:lnTo>
                  <a:pt x="11152862" y="0"/>
                </a:lnTo>
                <a:lnTo>
                  <a:pt x="0" y="0"/>
                </a:lnTo>
                <a:lnTo>
                  <a:pt x="0" y="3275562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 flipV="1">
            <a:off x="8820441" y="-475029"/>
            <a:ext cx="11152862" cy="3275562"/>
          </a:xfrm>
          <a:custGeom>
            <a:avLst/>
            <a:gdLst/>
            <a:ahLst/>
            <a:cxnLst/>
            <a:rect l="l" t="t" r="r" b="b"/>
            <a:pathLst>
              <a:path w="11152862" h="3275562">
                <a:moveTo>
                  <a:pt x="11152862" y="3275562"/>
                </a:moveTo>
                <a:lnTo>
                  <a:pt x="0" y="3275562"/>
                </a:lnTo>
                <a:lnTo>
                  <a:pt x="0" y="0"/>
                </a:lnTo>
                <a:lnTo>
                  <a:pt x="11152862" y="0"/>
                </a:lnTo>
                <a:lnTo>
                  <a:pt x="11152862" y="3275562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2696054" y="2588883"/>
            <a:ext cx="12864903" cy="810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51"/>
              </a:lnSpc>
            </a:pPr>
            <a:r>
              <a:rPr lang="en-US" sz="6399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Motivácia</a:t>
            </a:r>
          </a:p>
        </p:txBody>
      </p:sp>
      <p:sp>
        <p:nvSpPr>
          <p:cNvPr id="5" name="Freeform 5"/>
          <p:cNvSpPr/>
          <p:nvPr/>
        </p:nvSpPr>
        <p:spPr>
          <a:xfrm>
            <a:off x="-1472171" y="7375762"/>
            <a:ext cx="11152862" cy="3275562"/>
          </a:xfrm>
          <a:custGeom>
            <a:avLst/>
            <a:gdLst/>
            <a:ahLst/>
            <a:cxnLst/>
            <a:rect l="l" t="t" r="r" b="b"/>
            <a:pathLst>
              <a:path w="11152862" h="3275562">
                <a:moveTo>
                  <a:pt x="0" y="0"/>
                </a:moveTo>
                <a:lnTo>
                  <a:pt x="11152862" y="0"/>
                </a:lnTo>
                <a:lnTo>
                  <a:pt x="11152862" y="3275562"/>
                </a:lnTo>
                <a:lnTo>
                  <a:pt x="0" y="3275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flipH="1">
            <a:off x="8820441" y="7375762"/>
            <a:ext cx="11152862" cy="3275562"/>
          </a:xfrm>
          <a:custGeom>
            <a:avLst/>
            <a:gdLst/>
            <a:ahLst/>
            <a:cxnLst/>
            <a:rect l="l" t="t" r="r" b="b"/>
            <a:pathLst>
              <a:path w="11152862" h="3275562">
                <a:moveTo>
                  <a:pt x="11152862" y="0"/>
                </a:moveTo>
                <a:lnTo>
                  <a:pt x="0" y="0"/>
                </a:lnTo>
                <a:lnTo>
                  <a:pt x="0" y="3275562"/>
                </a:lnTo>
                <a:lnTo>
                  <a:pt x="11152862" y="3275562"/>
                </a:lnTo>
                <a:lnTo>
                  <a:pt x="11152862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3757183" y="3953495"/>
            <a:ext cx="10773633" cy="277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Agentové modelovanie podporuje rozvoj informatického myslenia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Umožňuje učenie objavovaním a experimentovanie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Žiaci vidia vznik komplexného správania z jednoduchých pravidiel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Niektoré existujúce prostredia používajú starší a menej intuitívny jazyk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7510" y="5759175"/>
            <a:ext cx="7766490" cy="3280050"/>
            <a:chOff x="0" y="0"/>
            <a:chExt cx="2045495" cy="8638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45495" cy="863882"/>
            </a:xfrm>
            <a:custGeom>
              <a:avLst/>
              <a:gdLst/>
              <a:ahLst/>
              <a:cxnLst/>
              <a:rect l="l" t="t" r="r" b="b"/>
              <a:pathLst>
                <a:path w="2045495" h="863882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5005"/>
                  </a:lnTo>
                  <a:cubicBezTo>
                    <a:pt x="2045495" y="835316"/>
                    <a:pt x="2041399" y="845204"/>
                    <a:pt x="2034109" y="852495"/>
                  </a:cubicBezTo>
                  <a:cubicBezTo>
                    <a:pt x="2026818" y="859786"/>
                    <a:pt x="2016929" y="863882"/>
                    <a:pt x="2006619" y="863882"/>
                  </a:cubicBezTo>
                  <a:lnTo>
                    <a:pt x="38877" y="863882"/>
                  </a:lnTo>
                  <a:cubicBezTo>
                    <a:pt x="28566" y="863882"/>
                    <a:pt x="18677" y="859786"/>
                    <a:pt x="11387" y="852495"/>
                  </a:cubicBezTo>
                  <a:cubicBezTo>
                    <a:pt x="4096" y="845204"/>
                    <a:pt x="0" y="835316"/>
                    <a:pt x="0" y="825005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5E4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45495" cy="901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27784" y="2260049"/>
            <a:ext cx="7766490" cy="3280050"/>
            <a:chOff x="0" y="0"/>
            <a:chExt cx="2045495" cy="8638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5495" cy="863882"/>
            </a:xfrm>
            <a:custGeom>
              <a:avLst/>
              <a:gdLst/>
              <a:ahLst/>
              <a:cxnLst/>
              <a:rect l="l" t="t" r="r" b="b"/>
              <a:pathLst>
                <a:path w="2045495" h="863882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5005"/>
                  </a:lnTo>
                  <a:cubicBezTo>
                    <a:pt x="2045495" y="835316"/>
                    <a:pt x="2041399" y="845204"/>
                    <a:pt x="2034109" y="852495"/>
                  </a:cubicBezTo>
                  <a:cubicBezTo>
                    <a:pt x="2026818" y="859786"/>
                    <a:pt x="2016929" y="863882"/>
                    <a:pt x="2006619" y="863882"/>
                  </a:cubicBezTo>
                  <a:lnTo>
                    <a:pt x="38877" y="863882"/>
                  </a:lnTo>
                  <a:cubicBezTo>
                    <a:pt x="28566" y="863882"/>
                    <a:pt x="18677" y="859786"/>
                    <a:pt x="11387" y="852495"/>
                  </a:cubicBezTo>
                  <a:cubicBezTo>
                    <a:pt x="4096" y="845204"/>
                    <a:pt x="0" y="835316"/>
                    <a:pt x="0" y="825005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5E4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45495" cy="901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27784" y="5759175"/>
            <a:ext cx="7766490" cy="3280050"/>
            <a:chOff x="0" y="0"/>
            <a:chExt cx="2045495" cy="8638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5495" cy="863882"/>
            </a:xfrm>
            <a:custGeom>
              <a:avLst/>
              <a:gdLst/>
              <a:ahLst/>
              <a:cxnLst/>
              <a:rect l="l" t="t" r="r" b="b"/>
              <a:pathLst>
                <a:path w="2045495" h="863882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5005"/>
                  </a:lnTo>
                  <a:cubicBezTo>
                    <a:pt x="2045495" y="835316"/>
                    <a:pt x="2041399" y="845204"/>
                    <a:pt x="2034109" y="852495"/>
                  </a:cubicBezTo>
                  <a:cubicBezTo>
                    <a:pt x="2026818" y="859786"/>
                    <a:pt x="2016929" y="863882"/>
                    <a:pt x="2006619" y="863882"/>
                  </a:cubicBezTo>
                  <a:lnTo>
                    <a:pt x="38877" y="863882"/>
                  </a:lnTo>
                  <a:cubicBezTo>
                    <a:pt x="28566" y="863882"/>
                    <a:pt x="18677" y="859786"/>
                    <a:pt x="11387" y="852495"/>
                  </a:cubicBezTo>
                  <a:cubicBezTo>
                    <a:pt x="4096" y="845204"/>
                    <a:pt x="0" y="835316"/>
                    <a:pt x="0" y="825005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5E4D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45495" cy="901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651491" y="3929994"/>
            <a:ext cx="6747171" cy="161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19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ECS architektúra v agentových simuláciách</a:t>
            </a:r>
          </a:p>
          <a:p>
            <a:pPr marL="453390" lvl="1" indent="-226695" algn="l">
              <a:lnSpc>
                <a:spcPts val="319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paralelné spracovanie a výkon</a:t>
            </a:r>
          </a:p>
          <a:p>
            <a:pPr marL="453390" lvl="1" indent="-226695" algn="l">
              <a:lnSpc>
                <a:spcPts val="319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inšpirácia pre architektúru môjho riešenia</a:t>
            </a:r>
          </a:p>
          <a:p>
            <a:pPr marL="0" lvl="1" indent="0" algn="l">
              <a:lnSpc>
                <a:spcPts val="3192"/>
              </a:lnSpc>
            </a:pPr>
            <a:endParaRPr lang="en-US" sz="210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40439" y="7364746"/>
            <a:ext cx="6747171" cy="201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19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zlepšenie computational thinking</a:t>
            </a:r>
          </a:p>
          <a:p>
            <a:pPr marL="453390" lvl="1" indent="-226695" algn="l">
              <a:lnSpc>
                <a:spcPts val="319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lepšie porozumenie prírodovedným javom</a:t>
            </a:r>
          </a:p>
          <a:p>
            <a:pPr marL="453390" lvl="1" indent="-226695" algn="l">
              <a:lnSpc>
                <a:spcPts val="319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presnosť vytvorených modelov súvisela s lepším porozumením učiva</a:t>
            </a:r>
          </a:p>
          <a:p>
            <a:pPr marL="0" lvl="1" indent="0" algn="l">
              <a:lnSpc>
                <a:spcPts val="3192"/>
              </a:lnSpc>
            </a:pPr>
            <a:endParaRPr lang="en-US" sz="210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651491" y="7269496"/>
            <a:ext cx="5345658" cy="1210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19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emergentné správanie agentov</a:t>
            </a:r>
          </a:p>
          <a:p>
            <a:pPr marL="453390" lvl="1" indent="-226695" algn="l">
              <a:lnSpc>
                <a:spcPts val="319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skúmanie a vytváranie rôznych mikrosvetov so žiakmi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2233" y="5965985"/>
            <a:ext cx="7317045" cy="73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9"/>
              </a:lnSpc>
            </a:pPr>
            <a:r>
              <a:rPr lang="en-US" sz="2486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Investigating Student Generated Computational Models of Science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6054" y="1190625"/>
            <a:ext cx="12864903" cy="810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51"/>
              </a:lnSpc>
            </a:pPr>
            <a:r>
              <a:rPr lang="en-US" sz="6399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Literatúra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40439" y="6673993"/>
            <a:ext cx="6747171" cy="576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96"/>
              </a:lnSpc>
            </a:pPr>
            <a:r>
              <a:rPr lang="en-US" sz="1800">
                <a:solidFill>
                  <a:srgbClr val="000000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Satabdi Basu, Anton Dukeman, John S. Kinnebrew, Gautam Biswas, Pratim Sengupta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0653" y="5965985"/>
            <a:ext cx="7640751" cy="73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9"/>
              </a:lnSpc>
            </a:pPr>
            <a:r>
              <a:rPr lang="en-US" sz="2486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Turtles, Termites, and Traffic Jams: Explorations in Massively Parallel Microworlds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37443" y="6673993"/>
            <a:ext cx="6747171" cy="30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96"/>
              </a:lnSpc>
            </a:pPr>
            <a:r>
              <a:rPr lang="en-US" sz="1800">
                <a:solidFill>
                  <a:srgbClr val="000000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Mitchel Resnick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77510" y="2211608"/>
            <a:ext cx="7766490" cy="3280050"/>
            <a:chOff x="0" y="0"/>
            <a:chExt cx="2045495" cy="8638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45495" cy="863882"/>
            </a:xfrm>
            <a:custGeom>
              <a:avLst/>
              <a:gdLst/>
              <a:ahLst/>
              <a:cxnLst/>
              <a:rect l="l" t="t" r="r" b="b"/>
              <a:pathLst>
                <a:path w="2045495" h="863882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5005"/>
                  </a:lnTo>
                  <a:cubicBezTo>
                    <a:pt x="2045495" y="835316"/>
                    <a:pt x="2041399" y="845204"/>
                    <a:pt x="2034109" y="852495"/>
                  </a:cubicBezTo>
                  <a:cubicBezTo>
                    <a:pt x="2026818" y="859786"/>
                    <a:pt x="2016929" y="863882"/>
                    <a:pt x="2006619" y="863882"/>
                  </a:cubicBezTo>
                  <a:lnTo>
                    <a:pt x="38877" y="863882"/>
                  </a:lnTo>
                  <a:cubicBezTo>
                    <a:pt x="28566" y="863882"/>
                    <a:pt x="18677" y="859786"/>
                    <a:pt x="11387" y="852495"/>
                  </a:cubicBezTo>
                  <a:cubicBezTo>
                    <a:pt x="4096" y="845204"/>
                    <a:pt x="0" y="835316"/>
                    <a:pt x="0" y="825005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5E4D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045495" cy="901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887169" y="3952494"/>
            <a:ext cx="6747171" cy="1210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19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základy agentového modelovania</a:t>
            </a:r>
          </a:p>
          <a:p>
            <a:pPr marL="453390" lvl="1" indent="-226695" algn="l">
              <a:lnSpc>
                <a:spcPts val="319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vlastnosti agentov a emergentné správanie</a:t>
            </a:r>
          </a:p>
          <a:p>
            <a:pPr marL="453390" lvl="1" indent="-226695" algn="l">
              <a:lnSpc>
                <a:spcPts val="3192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prehľad existujúcich ABMS nástrojov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02233" y="2797108"/>
            <a:ext cx="7317045" cy="36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9"/>
              </a:lnSpc>
            </a:pPr>
            <a:r>
              <a:rPr lang="en-US" sz="2486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Agent-Based Modeling and Simulation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40439" y="3221968"/>
            <a:ext cx="6747171" cy="30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96"/>
              </a:lnSpc>
            </a:pPr>
            <a:r>
              <a:rPr lang="en-US" sz="1800">
                <a:solidFill>
                  <a:srgbClr val="000000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Charles M. Macal, Michael J. North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90653" y="2425633"/>
            <a:ext cx="7640751" cy="73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9"/>
              </a:lnSpc>
            </a:pPr>
            <a:r>
              <a:rPr lang="en-US" sz="2486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The Impact of ECS Logic on Parallel Performance in Agent-Based Model Simulations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51491" y="3221968"/>
            <a:ext cx="6747171" cy="576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96"/>
              </a:lnSpc>
            </a:pPr>
            <a:r>
              <a:rPr lang="en-US" sz="1800">
                <a:solidFill>
                  <a:srgbClr val="000000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Antonio Ambrosio, Daniele De Vinco, Francesco Foglia, Carmine Spagnuolo, Vittorio Scarano</a:t>
            </a:r>
          </a:p>
        </p:txBody>
      </p:sp>
      <p:sp>
        <p:nvSpPr>
          <p:cNvPr id="27" name="Freeform 27"/>
          <p:cNvSpPr/>
          <p:nvPr/>
        </p:nvSpPr>
        <p:spPr>
          <a:xfrm>
            <a:off x="15117660" y="6702568"/>
            <a:ext cx="1466954" cy="2231109"/>
          </a:xfrm>
          <a:custGeom>
            <a:avLst/>
            <a:gdLst/>
            <a:ahLst/>
            <a:cxnLst/>
            <a:rect l="l" t="t" r="r" b="b"/>
            <a:pathLst>
              <a:path w="1466954" h="2231109">
                <a:moveTo>
                  <a:pt x="0" y="0"/>
                </a:moveTo>
                <a:lnTo>
                  <a:pt x="1466954" y="0"/>
                </a:lnTo>
                <a:lnTo>
                  <a:pt x="1466954" y="2231108"/>
                </a:lnTo>
                <a:lnTo>
                  <a:pt x="0" y="2231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80983" y="3241026"/>
            <a:ext cx="3740064" cy="719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71"/>
              </a:lnSpc>
              <a:spcBef>
                <a:spcPct val="0"/>
              </a:spcBef>
            </a:pPr>
            <a:r>
              <a:rPr lang="en-US" sz="3486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PixiJS + WebGL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41285" y="3241026"/>
            <a:ext cx="4044217" cy="719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71"/>
              </a:lnSpc>
              <a:spcBef>
                <a:spcPct val="0"/>
              </a:spcBef>
            </a:pPr>
            <a:r>
              <a:rPr lang="en-US" sz="3486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Web Workers API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7902" y="3241026"/>
            <a:ext cx="4251573" cy="719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71"/>
              </a:lnSpc>
              <a:spcBef>
                <a:spcPct val="0"/>
              </a:spcBef>
            </a:pPr>
            <a:r>
              <a:rPr lang="en-US" sz="3486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Vite + TypeScript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7902" y="4119881"/>
            <a:ext cx="4251573" cy="181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594"/>
              </a:lnSpc>
            </a:pPr>
            <a:r>
              <a:rPr lang="en-US" sz="256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základné technológie použité na vytvorenie webovej aplikácie a organizáciu kódu</a:t>
            </a:r>
          </a:p>
        </p:txBody>
      </p:sp>
      <p:sp>
        <p:nvSpPr>
          <p:cNvPr id="6" name="Freeform 6"/>
          <p:cNvSpPr/>
          <p:nvPr/>
        </p:nvSpPr>
        <p:spPr>
          <a:xfrm flipH="1" flipV="1">
            <a:off x="9017883" y="-616491"/>
            <a:ext cx="9676532" cy="2841968"/>
          </a:xfrm>
          <a:custGeom>
            <a:avLst/>
            <a:gdLst/>
            <a:ahLst/>
            <a:cxnLst/>
            <a:rect l="l" t="t" r="r" b="b"/>
            <a:pathLst>
              <a:path w="9676532" h="2841968">
                <a:moveTo>
                  <a:pt x="9676532" y="2841968"/>
                </a:moveTo>
                <a:lnTo>
                  <a:pt x="0" y="2841968"/>
                </a:lnTo>
                <a:lnTo>
                  <a:pt x="0" y="0"/>
                </a:lnTo>
                <a:lnTo>
                  <a:pt x="9676532" y="0"/>
                </a:lnTo>
                <a:lnTo>
                  <a:pt x="9676532" y="2841968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-1667581" y="7837316"/>
            <a:ext cx="9676532" cy="2841968"/>
          </a:xfrm>
          <a:custGeom>
            <a:avLst/>
            <a:gdLst/>
            <a:ahLst/>
            <a:cxnLst/>
            <a:rect l="l" t="t" r="r" b="b"/>
            <a:pathLst>
              <a:path w="9676532" h="2841968">
                <a:moveTo>
                  <a:pt x="9676532" y="2841968"/>
                </a:moveTo>
                <a:lnTo>
                  <a:pt x="0" y="2841968"/>
                </a:lnTo>
                <a:lnTo>
                  <a:pt x="0" y="0"/>
                </a:lnTo>
                <a:lnTo>
                  <a:pt x="9676532" y="0"/>
                </a:lnTo>
                <a:lnTo>
                  <a:pt x="9676532" y="2841968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11549" y="1901436"/>
            <a:ext cx="12864903" cy="810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51"/>
              </a:lnSpc>
            </a:pPr>
            <a:r>
              <a:rPr lang="en-US" sz="6399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Použité technológie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22203" y="3241026"/>
            <a:ext cx="4044217" cy="719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71"/>
              </a:lnSpc>
              <a:spcBef>
                <a:spcPct val="0"/>
              </a:spcBef>
            </a:pPr>
            <a:r>
              <a:rPr lang="en-US" sz="3486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bitECS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34836" y="6460676"/>
            <a:ext cx="4507327" cy="719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71"/>
              </a:lnSpc>
              <a:spcBef>
                <a:spcPct val="0"/>
              </a:spcBef>
            </a:pPr>
            <a:r>
              <a:rPr lang="en-US" sz="3486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SharedArrayBuffer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06958" y="7339531"/>
            <a:ext cx="4763082" cy="1363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594"/>
              </a:lnSpc>
            </a:pPr>
            <a:r>
              <a:rPr lang="en-US" sz="256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zdieľaná pamäť umožňujúca prístup viacerých vlákien k rovnakým dátam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6147" y="6460676"/>
            <a:ext cx="4044217" cy="719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71"/>
              </a:lnSpc>
              <a:spcBef>
                <a:spcPct val="0"/>
              </a:spcBef>
            </a:pPr>
            <a:r>
              <a:rPr lang="en-US" sz="3486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Atomics API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36715" y="7339531"/>
            <a:ext cx="4763082" cy="1363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594"/>
              </a:lnSpc>
            </a:pPr>
            <a:r>
              <a:rPr lang="en-US" sz="256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synchronizácia prístupu k zdieľaným dátam pri paralelnom spracovaní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54504" y="6460676"/>
            <a:ext cx="4044217" cy="719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71"/>
              </a:lnSpc>
              <a:spcBef>
                <a:spcPct val="0"/>
              </a:spcBef>
            </a:pPr>
            <a:r>
              <a:rPr lang="en-US" sz="3486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Tweakpane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95072" y="7339531"/>
            <a:ext cx="4763082" cy="91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594"/>
              </a:lnSpc>
            </a:pPr>
            <a:r>
              <a:rPr lang="en-US" sz="256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jednoduché GUI na ovládanie parametrov simulácie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30280" y="4087274"/>
            <a:ext cx="4251573" cy="181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594"/>
              </a:lnSpc>
            </a:pPr>
            <a:r>
              <a:rPr lang="en-US" sz="256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vykresľovanie agentov a simulácie pomocou grafickej karty pre vyšší výkon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37607" y="4087274"/>
            <a:ext cx="4251573" cy="181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594"/>
              </a:lnSpc>
            </a:pPr>
            <a:r>
              <a:rPr lang="en-US" sz="256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paralelné spracovanie simulácie v samostatných vláknach mimo hlavného UI vlákna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18526" y="4119881"/>
            <a:ext cx="4251573" cy="1363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594"/>
              </a:lnSpc>
            </a:pPr>
            <a:r>
              <a:rPr lang="en-US" sz="256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ECS architektúra pre efektívnu správu agentov a ich dát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27784" y="2260049"/>
            <a:ext cx="7766490" cy="6998251"/>
            <a:chOff x="0" y="0"/>
            <a:chExt cx="2045495" cy="18431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45495" cy="1843161"/>
            </a:xfrm>
            <a:custGeom>
              <a:avLst/>
              <a:gdLst/>
              <a:ahLst/>
              <a:cxnLst/>
              <a:rect l="l" t="t" r="r" b="b"/>
              <a:pathLst>
                <a:path w="2045495" h="1843161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1804284"/>
                  </a:lnTo>
                  <a:cubicBezTo>
                    <a:pt x="2045495" y="1825755"/>
                    <a:pt x="2028090" y="1843161"/>
                    <a:pt x="2006619" y="1843161"/>
                  </a:cubicBezTo>
                  <a:lnTo>
                    <a:pt x="38877" y="1843161"/>
                  </a:lnTo>
                  <a:cubicBezTo>
                    <a:pt x="28566" y="1843161"/>
                    <a:pt x="18677" y="1839065"/>
                    <a:pt x="11387" y="1831774"/>
                  </a:cubicBezTo>
                  <a:cubicBezTo>
                    <a:pt x="4096" y="1824483"/>
                    <a:pt x="0" y="1814595"/>
                    <a:pt x="0" y="1804284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5E4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45495" cy="1881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77510" y="2211608"/>
            <a:ext cx="7766490" cy="7046692"/>
            <a:chOff x="0" y="0"/>
            <a:chExt cx="2045495" cy="18559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5495" cy="1855919"/>
            </a:xfrm>
            <a:custGeom>
              <a:avLst/>
              <a:gdLst/>
              <a:ahLst/>
              <a:cxnLst/>
              <a:rect l="l" t="t" r="r" b="b"/>
              <a:pathLst>
                <a:path w="2045495" h="1855919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1817042"/>
                  </a:lnTo>
                  <a:cubicBezTo>
                    <a:pt x="2045495" y="1827353"/>
                    <a:pt x="2041399" y="1837241"/>
                    <a:pt x="2034109" y="1844532"/>
                  </a:cubicBezTo>
                  <a:cubicBezTo>
                    <a:pt x="2026818" y="1851823"/>
                    <a:pt x="2016929" y="1855919"/>
                    <a:pt x="2006619" y="1855919"/>
                  </a:cubicBezTo>
                  <a:lnTo>
                    <a:pt x="38877" y="1855919"/>
                  </a:lnTo>
                  <a:cubicBezTo>
                    <a:pt x="28566" y="1855919"/>
                    <a:pt x="18677" y="1851823"/>
                    <a:pt x="11387" y="1844532"/>
                  </a:cubicBezTo>
                  <a:cubicBezTo>
                    <a:pt x="4096" y="1837241"/>
                    <a:pt x="0" y="1827353"/>
                    <a:pt x="0" y="1817042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5E4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45495" cy="1894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651491" y="3363543"/>
            <a:ext cx="7379914" cy="6119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0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if any particles has speed &gt; 0:</a:t>
            </a:r>
          </a:p>
          <a:p>
            <a:pPr algn="l">
              <a:lnSpc>
                <a:spcPts val="3040"/>
              </a:lnSpc>
            </a:pPr>
            <a:r>
              <a:rPr lang="en-US" sz="20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maxSpeed = max speed of particles</a:t>
            </a:r>
          </a:p>
          <a:p>
            <a:pPr algn="l">
              <a:lnSpc>
                <a:spcPts val="3040"/>
              </a:lnSpc>
            </a:pPr>
            <a:r>
              <a:rPr lang="en-US" sz="20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tickDelta = min of ((1 / ceil(maxSpeed)), maxTickDelta)</a:t>
            </a:r>
          </a:p>
          <a:p>
            <a:pPr algn="l">
              <a:lnSpc>
                <a:spcPts val="3040"/>
              </a:lnSpc>
            </a:pPr>
            <a:r>
              <a:rPr lang="en-US" sz="20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else:</a:t>
            </a:r>
          </a:p>
          <a:p>
            <a:pPr algn="l">
              <a:lnSpc>
                <a:spcPts val="3040"/>
              </a:lnSpc>
            </a:pPr>
            <a:r>
              <a:rPr lang="en-US" sz="20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tickDelta = maxTickDelta</a:t>
            </a:r>
          </a:p>
          <a:p>
            <a:pPr algn="l">
              <a:lnSpc>
                <a:spcPts val="3040"/>
              </a:lnSpc>
            </a:pPr>
            <a:endParaRPr lang="en-US" sz="200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3040"/>
              </a:lnSpc>
            </a:pPr>
            <a:r>
              <a:rPr lang="en-US" sz="20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agents:</a:t>
            </a:r>
          </a:p>
          <a:p>
            <a:pPr algn="l">
              <a:lnSpc>
                <a:spcPts val="3040"/>
              </a:lnSpc>
            </a:pPr>
            <a:r>
              <a:rPr lang="en-US" sz="20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move forward 1</a:t>
            </a:r>
          </a:p>
          <a:p>
            <a:pPr algn="l">
              <a:lnSpc>
                <a:spcPts val="3040"/>
              </a:lnSpc>
            </a:pPr>
            <a:endParaRPr lang="en-US" sz="200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3040"/>
              </a:lnSpc>
            </a:pPr>
            <a:r>
              <a:rPr lang="en-US" sz="20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def agents:</a:t>
            </a:r>
          </a:p>
          <a:p>
            <a:pPr algn="l">
              <a:lnSpc>
                <a:spcPts val="3040"/>
              </a:lnSpc>
            </a:pPr>
            <a:r>
              <a:rPr lang="en-US" sz="20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energy = 100</a:t>
            </a:r>
          </a:p>
          <a:p>
            <a:pPr algn="l">
              <a:lnSpc>
                <a:spcPts val="3040"/>
              </a:lnSpc>
            </a:pPr>
            <a:endParaRPr lang="en-US" sz="200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3040"/>
              </a:lnSpc>
            </a:pPr>
            <a:r>
              <a:rPr lang="en-US" sz="20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function eat(amount):</a:t>
            </a:r>
          </a:p>
          <a:p>
            <a:pPr algn="l">
              <a:lnSpc>
                <a:spcPts val="3040"/>
              </a:lnSpc>
            </a:pPr>
            <a:r>
              <a:rPr lang="en-US" sz="20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        energy = energy + amount</a:t>
            </a:r>
          </a:p>
          <a:p>
            <a:pPr algn="l">
              <a:lnSpc>
                <a:spcPts val="3040"/>
              </a:lnSpc>
            </a:pPr>
            <a:endParaRPr lang="en-US" sz="200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3040"/>
              </a:lnSpc>
            </a:pPr>
            <a:endParaRPr lang="en-US" sz="200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696054" y="1190625"/>
            <a:ext cx="12864903" cy="810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51"/>
              </a:lnSpc>
            </a:pPr>
            <a:r>
              <a:rPr lang="en-US" sz="6399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Jazyk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87169" y="3382593"/>
            <a:ext cx="6747171" cy="5799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ifelse any? particles with [speed &gt; 0]</a:t>
            </a:r>
          </a:p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[ set tick-delta min list (1 / (ceiling max [speed] of           .       particles)) max-tick-delta ]</a:t>
            </a:r>
          </a:p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[ set tick-delta max-tick-delta ]</a:t>
            </a:r>
          </a:p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ask turtles [</a:t>
            </a:r>
          </a:p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fd 1</a:t>
            </a:r>
          </a:p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]</a:t>
            </a:r>
          </a:p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turtles-own [</a:t>
            </a:r>
          </a:p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energy</a:t>
            </a:r>
          </a:p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]</a:t>
            </a:r>
          </a:p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turtles-own [</a:t>
            </a:r>
          </a:p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energy</a:t>
            </a:r>
          </a:p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]</a:t>
            </a:r>
          </a:p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to eat [ amount ]</a:t>
            </a:r>
          </a:p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set energy energy + amount</a:t>
            </a:r>
          </a:p>
          <a:p>
            <a:pPr algn="l">
              <a:lnSpc>
                <a:spcPts val="2888"/>
              </a:lnSpc>
            </a:pPr>
            <a:r>
              <a:rPr lang="en-US" sz="19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end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02233" y="3994258"/>
            <a:ext cx="694688" cy="628385"/>
            <a:chOff x="0" y="0"/>
            <a:chExt cx="399256" cy="3611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9256" cy="361150"/>
            </a:xfrm>
            <a:custGeom>
              <a:avLst/>
              <a:gdLst/>
              <a:ahLst/>
              <a:cxnLst/>
              <a:rect l="l" t="t" r="r" b="b"/>
              <a:pathLst>
                <a:path w="399256" h="361150">
                  <a:moveTo>
                    <a:pt x="199628" y="0"/>
                  </a:moveTo>
                  <a:cubicBezTo>
                    <a:pt x="89376" y="0"/>
                    <a:pt x="0" y="80846"/>
                    <a:pt x="0" y="180575"/>
                  </a:cubicBezTo>
                  <a:cubicBezTo>
                    <a:pt x="0" y="280304"/>
                    <a:pt x="89376" y="361150"/>
                    <a:pt x="199628" y="361150"/>
                  </a:cubicBezTo>
                  <a:cubicBezTo>
                    <a:pt x="309879" y="361150"/>
                    <a:pt x="399256" y="280304"/>
                    <a:pt x="399256" y="180575"/>
                  </a:cubicBezTo>
                  <a:cubicBezTo>
                    <a:pt x="399256" y="80846"/>
                    <a:pt x="309879" y="0"/>
                    <a:pt x="199628" y="0"/>
                  </a:cubicBezTo>
                  <a:close/>
                </a:path>
              </a:pathLst>
            </a:custGeom>
            <a:solidFill>
              <a:srgbClr val="D5E4D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37430" y="-51867"/>
              <a:ext cx="324395" cy="379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02233" y="2787583"/>
            <a:ext cx="7317045" cy="49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1"/>
              </a:lnSpc>
            </a:pPr>
            <a:r>
              <a:rPr lang="en-US" sz="3286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NetLogo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0653" y="2787583"/>
            <a:ext cx="7640751" cy="49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1"/>
              </a:lnSpc>
            </a:pPr>
            <a:r>
              <a:rPr lang="en-US" sz="3286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Môj jazyk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27989" y="608457"/>
            <a:ext cx="11490868" cy="907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1"/>
              </a:lnSpc>
            </a:pPr>
            <a:r>
              <a:rPr lang="en-US" sz="6399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Štruktúra diplomovej práce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14787" y="2502212"/>
            <a:ext cx="10137397" cy="643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4" lvl="1" indent="-280667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Agentovo orientované modelovanie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1.1 Základné pojmy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1.2 Emergentné správanie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1.3 Reprezentácia modelov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1.4 Príklad modelu</a:t>
            </a:r>
          </a:p>
          <a:p>
            <a:pPr marL="561334" lvl="1" indent="-280667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Existujúce riešenia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2.1 NetLogo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2.2 StarLogo Nova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2.3 BioDynaMo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2.4 MASON</a:t>
            </a:r>
          </a:p>
          <a:p>
            <a:pPr marL="561334" lvl="1" indent="-280667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Modelovanie vo vzdelávaní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3.1 Učenie sa objavovaním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3.2 Agentovo orientovaná paradigma vo vzdelávaní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3.3 Rozvoj informatického myslenia</a:t>
            </a:r>
          </a:p>
        </p:txBody>
      </p:sp>
      <p:sp>
        <p:nvSpPr>
          <p:cNvPr id="4" name="Freeform 4"/>
          <p:cNvSpPr/>
          <p:nvPr/>
        </p:nvSpPr>
        <p:spPr>
          <a:xfrm rot="-5400000" flipV="1">
            <a:off x="-3975554" y="3720101"/>
            <a:ext cx="10592737" cy="2846798"/>
          </a:xfrm>
          <a:custGeom>
            <a:avLst/>
            <a:gdLst/>
            <a:ahLst/>
            <a:cxnLst/>
            <a:rect l="l" t="t" r="r" b="b"/>
            <a:pathLst>
              <a:path w="10592737" h="2846798">
                <a:moveTo>
                  <a:pt x="0" y="2846798"/>
                </a:moveTo>
                <a:lnTo>
                  <a:pt x="10592737" y="2846798"/>
                </a:lnTo>
                <a:lnTo>
                  <a:pt x="10592737" y="0"/>
                </a:lnTo>
                <a:lnTo>
                  <a:pt x="0" y="0"/>
                </a:lnTo>
                <a:lnTo>
                  <a:pt x="0" y="284679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5400000" flipV="1">
            <a:off x="11673229" y="3720101"/>
            <a:ext cx="10592737" cy="2846798"/>
          </a:xfrm>
          <a:custGeom>
            <a:avLst/>
            <a:gdLst/>
            <a:ahLst/>
            <a:cxnLst/>
            <a:rect l="l" t="t" r="r" b="b"/>
            <a:pathLst>
              <a:path w="10592737" h="2846798">
                <a:moveTo>
                  <a:pt x="0" y="2846798"/>
                </a:moveTo>
                <a:lnTo>
                  <a:pt x="10592737" y="2846798"/>
                </a:lnTo>
                <a:lnTo>
                  <a:pt x="10592737" y="0"/>
                </a:lnTo>
                <a:lnTo>
                  <a:pt x="0" y="0"/>
                </a:lnTo>
                <a:lnTo>
                  <a:pt x="0" y="284679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0131973" y="2502212"/>
            <a:ext cx="10137397" cy="3229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4" lvl="1" indent="-280667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Návrh riešenia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4.1 Ciele a požiadavky na systém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4.2 Architektúra systému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4.3 Návrh používateľského rozhrania</a:t>
            </a:r>
          </a:p>
          <a:p>
            <a:pPr marL="561334" lvl="1" indent="-280667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Implementácia</a:t>
            </a:r>
          </a:p>
          <a:p>
            <a:pPr marL="561334" lvl="1" indent="-280667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Návrh vyučovacích hodín</a:t>
            </a:r>
          </a:p>
          <a:p>
            <a:pPr marL="561334" lvl="1" indent="-280667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Testovanie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83224" y="4093804"/>
            <a:ext cx="11121552" cy="310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85"/>
              </a:lnSpc>
            </a:pPr>
            <a:r>
              <a:rPr lang="sk-SK" sz="11848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Ďakujem za pozornosť</a:t>
            </a:r>
            <a:endParaRPr lang="en-US" sz="11848" b="1" dirty="0">
              <a:solidFill>
                <a:srgbClr val="000000"/>
              </a:solidFill>
              <a:latin typeface="Fraunces Bold"/>
              <a:ea typeface="Fraunces Bold"/>
              <a:cs typeface="Fraunces Bold"/>
              <a:sym typeface="Fraunce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0" y="3904848"/>
            <a:ext cx="5579065" cy="6382152"/>
          </a:xfrm>
          <a:custGeom>
            <a:avLst/>
            <a:gdLst/>
            <a:ahLst/>
            <a:cxnLst/>
            <a:rect l="l" t="t" r="r" b="b"/>
            <a:pathLst>
              <a:path w="5579065" h="6382152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2708935" y="0"/>
            <a:ext cx="5579065" cy="6382152"/>
          </a:xfrm>
          <a:custGeom>
            <a:avLst/>
            <a:gdLst/>
            <a:ahLst/>
            <a:cxnLst/>
            <a:rect l="l" t="t" r="r" b="b"/>
            <a:pathLst>
              <a:path w="5579065" h="6382152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-301030" y="301030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>
                <a:moveTo>
                  <a:pt x="0" y="0"/>
                </a:moveTo>
                <a:lnTo>
                  <a:pt x="7768508" y="0"/>
                </a:lnTo>
                <a:lnTo>
                  <a:pt x="7768508" y="7166448"/>
                </a:lnTo>
                <a:lnTo>
                  <a:pt x="0" y="716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5400000" flipH="1" flipV="1">
            <a:off x="10820522" y="2819522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>
                <a:moveTo>
                  <a:pt x="7768508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8" y="0"/>
                </a:lnTo>
                <a:lnTo>
                  <a:pt x="7768508" y="71664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556</Words>
  <Application>Microsoft Office PowerPoint</Application>
  <PresentationFormat>Vlastná</PresentationFormat>
  <Paragraphs>114</Paragraphs>
  <Slides>9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6" baseType="lpstr">
      <vt:lpstr>Arial</vt:lpstr>
      <vt:lpstr>Codec Pro Light</vt:lpstr>
      <vt:lpstr>Codec Pro</vt:lpstr>
      <vt:lpstr>Calibri</vt:lpstr>
      <vt:lpstr>Fraunces</vt:lpstr>
      <vt:lpstr>Fraunces Bold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Modern Thesis Defense Presentation</dc:title>
  <dc:creator>Ivka</dc:creator>
  <cp:lastModifiedBy>Ivka</cp:lastModifiedBy>
  <cp:revision>3</cp:revision>
  <dcterms:created xsi:type="dcterms:W3CDTF">2006-08-16T00:00:00Z</dcterms:created>
  <dcterms:modified xsi:type="dcterms:W3CDTF">2026-05-11T07:40:56Z</dcterms:modified>
  <dc:identifier>DAHJRfeIG78</dc:identifier>
</cp:coreProperties>
</file>